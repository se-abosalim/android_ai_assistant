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A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876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selamlama. Projeyi tanıt: çok dilli sesli komutlarla Android cihaz kontrolü. Hibrit kural tabanlı + makine öğrenmesi destekli bir sistem.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Akıllı telefonlar günlük hayatın merkezinde, ancak dokunmatik etkileşim her senaryoda pratik değil. Hareket kısıtı olan bireyler ve ellerin meşgul olduğu durumlar motivasyonumuz.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Hedef: sesli komutlarla Android cihazda gerçek işlemler yapmak. İngilizce, Türkçe ve Arapça destekleniyor. Örnek görev yelpazesini özetle.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Uçtan uca akış: Android SpeechRecognizer sesi metne çevirir, FastAPI backend rule engine ve XLM-RoBERTa ile komutu yorumlar, doğrulama sonrası komut cihaza döner ve Accessibility Service ile yürütülür. STT için özel sürekli motor yok — Android SpeechRecognizer kullanılıyor.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 seti üç dilli: İngilizce, Türkçe, Arapça. 3876 komut örneği, 33 intent ailesi, 58 model etiketi. Her komut bir intent ve parametrelere ayrışır.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XLM-RoBERTa Base modeli çok dilli intent sınıflandırması için kullanılıyor. Tokenizer, classification layer üzerinden intent ve kategorik parametreler tahmin ediliyor; açık uçlu parametreler backend rule engine ile tamamlanıyor.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backend komutu alır, rule engine'i çalıştırır, model tahmini yapar, parametreleri çıkarır, doğrular ve Android'e JSON cevap döner. Deterministik komutlarda rule engine, doğal dil çeşitliliğinde model devreye girer.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&amp; Enrichment katmanı eksik parametre, desteklenmeyen işlem ve güvenli komut kontrolü yapar. PostgreSQL kalıcı kayıtlar için, Redis ise uygulama kataloğu gibi sık erişilen veride önbellek için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tarafında Command Executor ve handler yapısı komutları yürütür. Accessibility Service ile UI ağacı taranır; gesture dispatch, Android intentleri ve sistem servisleri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önemli slayt. Açık uygulamanın ekranı taranır: metin, buton, ikon ve input alanları. Yakın eşleşme ve ikon aliasları ile öğeler bulunur; birden çok aday varsa numaralandırılır ve kullanıcı seçer.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Kullanıcı birden fazla komutu sıralı bir akış olarak kaydedebilir. Akışlar PostgreSQL'de saklanır, Android tarafında sırayla çalışır; bir adımda hata olursa durur ve kullanıcı tarafından iptal edilebilir.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metrikleri: validation accuracy %95.87, test accuracy %93.45. Intent doğruluğu validation'da %97.49, test'te %94.31. Model çok dilli sınıflandırmada başarılı; güvenilirlik için rule engine ve validation katmanı ile destekleniyor.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Uygulamanın ana ekranları: Home, Permissions, Custom Commands, Guide ve Settings. Her ekran için ekran görüntüsü alanı bırakıldı; kısa açıklamalar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 uçtan uca çalışan bir Android sesli asistan prototipidir. Güçlü yönler ve sınırlılıklar dürüstçe özetlenir; gelecek çalışmalar olarak daha kararlı STT/VAD, geniş cihaz testleri ve veri seti genişletme planlanır. Teşekkür ve sorular.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004552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00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BITIRME PROJESI · 2026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1047750" y="1383882"/>
            <a:ext cx="609600" cy="47625"/>
          </a:xfrm>
          <a:prstGeom prst="rect">
            <a:avLst/>
          </a:prstGeom>
          <a:solidFill>
            <a:srgbClr val="3ECA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96169" y="3679693"/>
            <a:ext cx="9406261" cy="1781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6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İşletim Sistemi Yapay Zekâ Asistanı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96169" y="5708518"/>
            <a:ext cx="922020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27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Dilli Sesli Komutlarla Android Cihaz Kontrolü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47749" y="8464550"/>
            <a:ext cx="9360000" cy="12700"/>
          </a:xfrm>
          <a:prstGeom prst="rect">
            <a:avLst/>
          </a:prstGeom>
          <a:solidFill>
            <a:srgbClr val="9FC0DC">
              <a:alpha val="2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047750" y="8801100"/>
            <a:ext cx="1225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ÖĞRENCI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9067800"/>
            <a:ext cx="21374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tr-TR" sz="1875">
                <a:solidFill>
                  <a:srgbClr val="EAF1F8"/>
                </a:solidFill>
                <a:latin typeface="Arial" pitchFamily="34" charset="0"/>
                <a:cs typeface="Arial" pitchFamily="34" charset="-120"/>
              </a:rPr>
              <a:t>Muhammed Chreiki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479264" y="8801100"/>
            <a:ext cx="13797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9264" y="9067800"/>
            <a:ext cx="29946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tr-TR" sz="1875">
                <a:solidFill>
                  <a:srgbClr val="EAF1F8"/>
                </a:solidFill>
                <a:latin typeface="Arial" pitchFamily="34" charset="0"/>
                <a:cs typeface="Arial" pitchFamily="34" charset="-120"/>
              </a:rPr>
              <a:t>Yazılım Mühendisliği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88932" y="8801100"/>
            <a:ext cx="206537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5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DANIŞMAN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8932" y="9067800"/>
            <a:ext cx="42702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tr-TR" sz="1875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Öğr. Üyesi. Bahattin Selim Pamukcu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424971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PROBLEM VE MOTIVASYON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469203"/>
            <a:ext cx="12203942" cy="784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Dokunmatik etkileşim her zaman erişilebilir değil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4236884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314450" y="4103534"/>
            <a:ext cx="868844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telefonlar günlük yaşamın merkezinde — iletişim, üretkenlik ve bilgiye erişim tek cihazda toplanıyor.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952500" y="5349325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314450" y="5215975"/>
            <a:ext cx="868844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Dokunmatik etkileşim bazı senaryolarda pratik değil; ellerin meşgul olduğu ya da ekrana ulaşılamayan durumlar var.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952500" y="6461766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314450" y="6328416"/>
            <a:ext cx="868844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Hareket kısıtı olan bireyler için dokunmatik arayüzler bir erişilebilirlik engeline dönüşebiliyor.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52500" y="7574206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314450" y="7440856"/>
            <a:ext cx="868844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Sesli etkileşim, eller serbest ve daha kapsayıcı bir kullanım imkânı sunuyor.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10264180" y="4176212"/>
            <a:ext cx="7071321" cy="4129435"/>
          </a:xfrm>
          <a:prstGeom prst="roundRect">
            <a:avLst>
              <a:gd name="adj" fmla="val 2382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0657880" y="4926279"/>
            <a:ext cx="691231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TIPIK SENARYOLAR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0657880" y="5351729"/>
            <a:ext cx="6283921" cy="647700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0867430" y="5504129"/>
            <a:ext cx="60533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tr-TR" sz="2025">
                <a:solidFill>
                  <a:srgbClr val="1B2E40"/>
                </a:solidFill>
                <a:latin typeface="Arial" pitchFamily="34" charset="0"/>
                <a:cs typeface="Arial" pitchFamily="34" charset="-120"/>
              </a:rPr>
              <a:t>Engellilik Durumu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657880" y="6208979"/>
            <a:ext cx="6283921" cy="647700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0867430" y="6361379"/>
            <a:ext cx="60533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Eller meşgulken (yemek, iş)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657880" y="7066229"/>
            <a:ext cx="6283921" cy="647700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0867430" y="7218629"/>
            <a:ext cx="60533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Erişilebilirlik ihtiyacı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PROJENIN AMACI VE KAPSAMI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454553"/>
            <a:ext cx="134112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Sesli komutlarla Android cihazda gerçek işlemler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52500" y="3347919"/>
            <a:ext cx="12950190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doğal dilde konuşur; sistem komutu yorumlar ve cihaz üzerinde ilgili işlemi gerçekleştirir.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52500" y="4536559"/>
            <a:ext cx="2517180" cy="584200"/>
          </a:xfrm>
          <a:prstGeom prst="roundRect">
            <a:avLst>
              <a:gd name="adj" fmla="val 163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250950" y="4682609"/>
            <a:ext cx="19964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· İngilizce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60180" y="4536559"/>
            <a:ext cx="2105819" cy="584200"/>
          </a:xfrm>
          <a:prstGeom prst="roundRect">
            <a:avLst>
              <a:gd name="adj" fmla="val 163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958630" y="4682609"/>
            <a:ext cx="15851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Türkçe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56499" y="4536559"/>
            <a:ext cx="2105819" cy="584200"/>
          </a:xfrm>
          <a:prstGeom prst="roundRect">
            <a:avLst>
              <a:gd name="adj" fmla="val 163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254949" y="4682609"/>
            <a:ext cx="15851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 · Arapça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5520809"/>
            <a:ext cx="180213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ÖRNEK GÖREVLER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952500" y="594625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212850" y="614945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açma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470650" y="594625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731000" y="614945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Arayüz öğesine tıklama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988801" y="594625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2249151" y="614945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Ekranı kaydırma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684160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212850" y="704480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yazma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470650" y="684160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731000" y="704480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yapma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988801" y="684160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2249151" y="704480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kurma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2500" y="773695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212850" y="794015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ayarlarını yönetme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470650" y="773695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731000" y="794015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görüntüsü alma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988801" y="7736959"/>
            <a:ext cx="53467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12249151" y="7940159"/>
            <a:ext cx="49864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 komut akışları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424971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GENEL SISTEM MIMARISI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3474681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Sesten cihaz eylemine: uçtan uca akış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4558547"/>
            <a:ext cx="2834481" cy="2228372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965200" y="4571247"/>
            <a:ext cx="2809081" cy="66675"/>
          </a:xfrm>
          <a:prstGeom prst="rect">
            <a:avLst/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174750" y="5055397"/>
            <a:ext cx="26289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 GIRIŞI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174750" y="5360197"/>
            <a:ext cx="246618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SpeechRecognizer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74750" y="6045997"/>
            <a:ext cx="2628979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Konuşmayı metne çevirir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920331" y="5450883"/>
            <a:ext cx="3619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339431" y="4558547"/>
            <a:ext cx="2834680" cy="2228372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352131" y="4571247"/>
            <a:ext cx="2809280" cy="66675"/>
          </a:xfrm>
          <a:prstGeom prst="rect">
            <a:avLst/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61681" y="5198272"/>
            <a:ext cx="26291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561681" y="5503072"/>
            <a:ext cx="2629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4561681" y="5903122"/>
            <a:ext cx="262919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· XLM-RoBERTa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7307461" y="5450883"/>
            <a:ext cx="3619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7726561" y="4558547"/>
            <a:ext cx="2834680" cy="2228372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7739261" y="4571247"/>
            <a:ext cx="2809280" cy="66675"/>
          </a:xfrm>
          <a:prstGeom prst="rect">
            <a:avLst/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948811" y="4937922"/>
            <a:ext cx="26291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DOĞRULAMA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7948811" y="5242722"/>
            <a:ext cx="246638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Enrichment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7948811" y="5928522"/>
            <a:ext cx="2466380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Parametre tamamlama, kontrol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0694591" y="5450883"/>
            <a:ext cx="3619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113691" y="4558547"/>
            <a:ext cx="2834680" cy="2228372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11126391" y="4571247"/>
            <a:ext cx="2809280" cy="66675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1335941" y="5198272"/>
            <a:ext cx="26291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 KATMANI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1335941" y="5503072"/>
            <a:ext cx="2629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Redis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335941" y="5903122"/>
            <a:ext cx="262919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Kalıcı kayıt &amp; önbellek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4081721" y="5450883"/>
            <a:ext cx="3619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4500821" y="4558547"/>
            <a:ext cx="2834680" cy="2228372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14513521" y="4571247"/>
            <a:ext cx="2809280" cy="66675"/>
          </a:xfrm>
          <a:prstGeom prst="rect">
            <a:avLst/>
          </a:prstGeom>
          <a:solidFill>
            <a:srgbClr val="5B7A9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14723071" y="5198272"/>
            <a:ext cx="26291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5B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CIHAZ YÜRÜTME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4723071" y="5503072"/>
            <a:ext cx="2629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Executor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4723071" y="5903122"/>
            <a:ext cx="262919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· System APIs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52500" y="8978900"/>
            <a:ext cx="16383000" cy="62230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952500" y="9588500"/>
            <a:ext cx="16383000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952500" y="8978900"/>
            <a:ext cx="16383000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952500" y="8978900"/>
            <a:ext cx="38100" cy="622300"/>
          </a:xfrm>
          <a:prstGeom prst="rect">
            <a:avLst/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17322800" y="8978900"/>
            <a:ext cx="12700" cy="6223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1238250" y="9163050"/>
            <a:ext cx="1632839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Konuşma–metin (STT): Android SpeechRecognizer — sürekli çalışan özel bir STT </a:t>
            </a:r>
            <a:r>
              <a:rPr lang="en-US" sz="1575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motoru kullanıl</a:t>
            </a:r>
            <a:r>
              <a:rPr lang="tr-TR" sz="1575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madı</a:t>
            </a:r>
            <a:r>
              <a:rPr lang="en-US" sz="1575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0669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VERI SETI VE INTENT YAPISI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768450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dilli komut veri seti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3757066"/>
            <a:ext cx="3952875" cy="1606550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231900" y="4055516"/>
            <a:ext cx="3733483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31900" y="4773066"/>
            <a:ext cx="37334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(EN · TR · AR)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5095875" y="3757066"/>
            <a:ext cx="3952875" cy="1606550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375275" y="4055516"/>
            <a:ext cx="3733483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>
                <a:solidFill>
                  <a:srgbClr val="1E5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</a:t>
            </a:r>
            <a:r>
              <a:rPr lang="tr-TR" sz="4500" b="1">
                <a:solidFill>
                  <a:srgbClr val="1E5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5375275" y="4773066"/>
            <a:ext cx="37334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komut örneği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239250" y="3757066"/>
            <a:ext cx="3952875" cy="1606550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9518650" y="4055516"/>
            <a:ext cx="3733483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E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9518650" y="4773066"/>
            <a:ext cx="37334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ailesi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3382625" y="3757066"/>
            <a:ext cx="3952875" cy="1606550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3662025" y="4055516"/>
            <a:ext cx="3733483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6B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3662025" y="4773066"/>
            <a:ext cx="37334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etiketi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952500" y="5801766"/>
            <a:ext cx="180213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+ PARAMETRE ÖRNEKLERI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952500" y="6208166"/>
            <a:ext cx="16383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250950" y="6430416"/>
            <a:ext cx="228846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"aşağı kaydır"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521869" y="6443116"/>
            <a:ext cx="20200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38178" y="6449466"/>
            <a:ext cx="212518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SCROLL_SCREEN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960666" y="6443116"/>
            <a:ext cx="20200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76975" y="6430416"/>
            <a:ext cx="261522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= down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" y="7122566"/>
            <a:ext cx="16383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250950" y="7344816"/>
            <a:ext cx="245173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"turn on Wi-Fi"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3670300" y="7357516"/>
            <a:ext cx="20200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86610" y="7363866"/>
            <a:ext cx="126523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SET_WIFI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5366147" y="7357516"/>
            <a:ext cx="20200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82457" y="7344816"/>
            <a:ext cx="163449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on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2500" y="8036966"/>
            <a:ext cx="16383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1250950" y="8259216"/>
            <a:ext cx="441321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"ön kamerayla fotoğraf çek"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5453460" y="8271916"/>
            <a:ext cx="20200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69769" y="8278266"/>
            <a:ext cx="163492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TAKE_PHOTO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7446566" y="8271916"/>
            <a:ext cx="20200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762875" y="8259216"/>
            <a:ext cx="228846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= front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457670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MAKINE ÖĞRENMESI MODELI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994428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XLM-RoBERTa ile çok dilli sınıflandırma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52500" y="3754444"/>
            <a:ext cx="13830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bir çok dilli model; İngilizce, Türkçe ve Arapça komutları aynı intent uzayında sınıflandırır.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4592644"/>
            <a:ext cx="3540721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174750" y="4872044"/>
            <a:ext cx="34058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GIRDI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174750" y="5138744"/>
            <a:ext cx="340584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Komut metni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626571" y="4592644"/>
            <a:ext cx="3429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026621" y="4592644"/>
            <a:ext cx="3540919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248870" y="4872044"/>
            <a:ext cx="3406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ÖNIŞLEME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248870" y="5138744"/>
            <a:ext cx="340606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8700889" y="4592644"/>
            <a:ext cx="3429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00939" y="4592644"/>
            <a:ext cx="4160242" cy="1104900"/>
          </a:xfrm>
          <a:prstGeom prst="roundRect">
            <a:avLst>
              <a:gd name="adj" fmla="val 12069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9323189" y="4872044"/>
            <a:ext cx="40873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323189" y="5138744"/>
            <a:ext cx="408731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XLM-RoBERTa Base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394531" y="4592644"/>
            <a:ext cx="3429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3794581" y="4592644"/>
            <a:ext cx="3540919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4016832" y="4872044"/>
            <a:ext cx="3406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SINIFLANDIRMA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4016832" y="5138744"/>
            <a:ext cx="340606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Layer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3350" y="5868994"/>
            <a:ext cx="180213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6357944"/>
            <a:ext cx="8086725" cy="1480344"/>
          </a:xfrm>
          <a:prstGeom prst="roundRect">
            <a:avLst>
              <a:gd name="adj" fmla="val 7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952500" y="7825588"/>
            <a:ext cx="8086725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952500" y="6357944"/>
            <a:ext cx="8086725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952500" y="6357944"/>
            <a:ext cx="38100" cy="1480344"/>
          </a:xfrm>
          <a:prstGeom prst="rect">
            <a:avLst/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9026525" y="6357944"/>
            <a:ext cx="12700" cy="1480344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1276350" y="6618294"/>
            <a:ext cx="821086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+ kategorik parametre tahmini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276350" y="6986594"/>
            <a:ext cx="7688358" cy="629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Model, intent etiketini ve sınırlı seçenekli (kategorik) parametreleri doğrudan üretir.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9248775" y="6357944"/>
            <a:ext cx="8086725" cy="1480344"/>
          </a:xfrm>
          <a:prstGeom prst="roundRect">
            <a:avLst>
              <a:gd name="adj" fmla="val 7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9248775" y="7825588"/>
            <a:ext cx="8086725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9248775" y="6357944"/>
            <a:ext cx="8086725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9248775" y="6357944"/>
            <a:ext cx="38100" cy="1480344"/>
          </a:xfrm>
          <a:prstGeom prst="rect">
            <a:avLst/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7322800" y="6357944"/>
            <a:ext cx="12700" cy="1480344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9572625" y="6618294"/>
            <a:ext cx="821086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uçlu parametreler → Rule Engine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9572625" y="6986594"/>
            <a:ext cx="7688358" cy="629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Serbest metin / değişken parametreler backend rule engine tarafından tamamlanır.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457670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BACKEND VE KOMUT İŞLEME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718450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FastAPI: komuttan JSON cevaba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3745166"/>
            <a:ext cx="8815983" cy="711200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212850" y="3980116"/>
            <a:ext cx="32781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54969" y="3929316"/>
            <a:ext cx="31297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Komutu al (ses → metin)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52500" y="4589716"/>
            <a:ext cx="8815983" cy="711200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212850" y="4824666"/>
            <a:ext cx="32781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54969" y="4773866"/>
            <a:ext cx="25458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engine'i çalıştır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52500" y="5434266"/>
            <a:ext cx="8815983" cy="711200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212850" y="5669216"/>
            <a:ext cx="32781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54969" y="5618416"/>
            <a:ext cx="23305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tahmini yap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52500" y="6278816"/>
            <a:ext cx="8815983" cy="711200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212850" y="6513766"/>
            <a:ext cx="32781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54969" y="6462966"/>
            <a:ext cx="24220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Parametreleri çıkar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52500" y="7123366"/>
            <a:ext cx="8815983" cy="711200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212850" y="7358316"/>
            <a:ext cx="32781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654969" y="7307516"/>
            <a:ext cx="9771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B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52500" y="7967916"/>
            <a:ext cx="8815983" cy="711200"/>
          </a:xfrm>
          <a:prstGeom prst="roundRect">
            <a:avLst>
              <a:gd name="adj" fmla="val 13393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212850" y="8202866"/>
            <a:ext cx="32781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54969" y="8152066"/>
            <a:ext cx="37863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Android'e JSON cevap döndür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282833" y="5650960"/>
            <a:ext cx="7052667" cy="1672431"/>
          </a:xfrm>
          <a:prstGeom prst="roundRect">
            <a:avLst>
              <a:gd name="adj" fmla="val 79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10282833" y="7310691"/>
            <a:ext cx="7052667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10282833" y="5650960"/>
            <a:ext cx="7052667" cy="38100"/>
          </a:xfrm>
          <a:prstGeom prst="rect">
            <a:avLst/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10282833" y="5650960"/>
            <a:ext cx="12700" cy="1672431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17322800" y="5650960"/>
            <a:ext cx="12700" cy="1672431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10600333" y="5974810"/>
            <a:ext cx="705943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ENGINE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0600333" y="6305010"/>
            <a:ext cx="6610198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Deterministik, kalıp belirli komutlarda hızlı ve güvenilir eşleme.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0282833" y="7532941"/>
            <a:ext cx="7052667" cy="1312466"/>
          </a:xfrm>
          <a:prstGeom prst="roundRect">
            <a:avLst>
              <a:gd name="adj" fmla="val 101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10282833" y="8832706"/>
            <a:ext cx="7052667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10282833" y="7532941"/>
            <a:ext cx="7052667" cy="38100"/>
          </a:xfrm>
          <a:prstGeom prst="rect">
            <a:avLst/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0282833" y="7532941"/>
            <a:ext cx="12700" cy="1312466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17322800" y="7532941"/>
            <a:ext cx="12700" cy="1312466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0600333" y="7856791"/>
            <a:ext cx="705943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0600333" y="8186991"/>
            <a:ext cx="7059434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Doğal dilin çeşitliliğinde esnek anlama ve genelleme.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621119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DOĞRULAMA, VERITABANI VE ÖNBELLEK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3593190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 ve tutarlı komut işleme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4638956"/>
            <a:ext cx="5308600" cy="2982706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289050" y="5013606"/>
            <a:ext cx="5099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DOĞRULAMA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9050" y="5318406"/>
            <a:ext cx="50990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Enrichment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89050" y="5896256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Eksik parametre kontrolü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89050" y="6389174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Desteklenmeyen Android işlemi tespiti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89050" y="6882093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 komut doğrulaması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489700" y="4638956"/>
            <a:ext cx="5308600" cy="2982706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826250" y="5013606"/>
            <a:ext cx="5099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KALICI KAYIT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26250" y="5318406"/>
            <a:ext cx="50990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826250" y="5896256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Cihaz &amp; uygulama kataloğu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826250" y="6389174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 komut akışları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826250" y="6882093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Komut geçmişi </a:t>
            </a:r>
            <a:r>
              <a:rPr lang="tr-TR" sz="1875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kayıtları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2026901" y="4638956"/>
            <a:ext cx="5308600" cy="2982706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2363450" y="5013606"/>
            <a:ext cx="5099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ÖNBELLEK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363450" y="5318406"/>
            <a:ext cx="50990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363450" y="5896256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Sık erişilen verilerde hız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363450" y="6389174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kataloğu önbelleği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363450" y="6882093"/>
            <a:ext cx="50990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Düşük gecikmeli erişim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719193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ANDROID TARAFI VE ACCESSIBILITY SERVICE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3217861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Komutu cihazda eyleme dönüştürmek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4244577"/>
            <a:ext cx="8048625" cy="3943486"/>
          </a:xfrm>
          <a:prstGeom prst="roundRect">
            <a:avLst>
              <a:gd name="adj" fmla="val 217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308100" y="4619227"/>
            <a:ext cx="80711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YÜRÜTME KATMANI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08100" y="519072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593850" y="5076427"/>
            <a:ext cx="459503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Executor &amp; handler yapısı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08100" y="5747344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593850" y="5633044"/>
            <a:ext cx="2584232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Service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308100" y="6303961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593850" y="6189661"/>
            <a:ext cx="2220357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intentleri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08100" y="6860578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593850" y="6746278"/>
            <a:ext cx="2161203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dispatch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308100" y="7417196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593850" y="7302896"/>
            <a:ext cx="2092444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servisleri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286875" y="4244577"/>
            <a:ext cx="8048625" cy="3943486"/>
          </a:xfrm>
          <a:prstGeom prst="roundRect">
            <a:avLst>
              <a:gd name="adj" fmla="val 217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642475" y="4619227"/>
            <a:ext cx="80711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ACCESSIBILITY İŞLEMLERI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42475" y="519072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928225" y="5076427"/>
            <a:ext cx="294265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node ağacını tarama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642475" y="5747344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9928225" y="5633044"/>
            <a:ext cx="2518966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Buton ve öğe bulma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642475" y="6303961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9928225" y="6189661"/>
            <a:ext cx="2571353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alanına yazma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9642475" y="6860578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9928225" y="6746278"/>
            <a:ext cx="2150943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Kaydırma (scroll)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642475" y="7417196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9928225" y="7302896"/>
            <a:ext cx="1665704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Tıklama (tap)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670145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DINAMIK KULLANICI ARAYÜZÜ ETKILEŞIMI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968450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Ekranı anlayıp doğru öğeyi seçmek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4052316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247775" y="3938016"/>
            <a:ext cx="8824674" cy="418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uygulama ekranında </a:t>
            </a:r>
            <a:r>
              <a:rPr lang="en-US" sz="21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metin, buton, ikon ve input </a:t>
            </a:r>
            <a:r>
              <a:rPr lang="en-US" sz="210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alanları taranır.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4661519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1E5F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247775" y="4547219"/>
            <a:ext cx="7037824" cy="418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Yakın eşleşme </a:t>
            </a:r>
            <a:r>
              <a:rPr lang="en-US" sz="210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</a:t>
            </a:r>
            <a:r>
              <a:rPr lang="en-US" sz="21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ikon aliasları </a:t>
            </a:r>
            <a:r>
              <a:rPr lang="en-US" sz="210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 hedef öğe belirlenir.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527072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247775" y="5156422"/>
            <a:ext cx="8967434" cy="1271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0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Birden</a:t>
            </a:r>
            <a:r>
              <a:rPr lang="tr-TR" sz="190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çok aday</a:t>
            </a:r>
            <a:r>
              <a:rPr lang="en-US" sz="190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90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varsa sistem adayları </a:t>
            </a:r>
            <a:r>
              <a:rPr lang="tr-TR" sz="1900" b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üzerinde </a:t>
            </a:r>
            <a:r>
              <a:rPr lang="tr-TR" sz="190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numaralandırılmış işaretlerle gösterir. Grid ve labels yapıları ise </a:t>
            </a:r>
            <a:r>
              <a:rPr lang="tr-TR" sz="1900" b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belirsiz durumlarda </a:t>
            </a:r>
            <a:r>
              <a:rPr lang="tr-TR" sz="190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 seçim yöntemi olarak kullanılır.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52500" y="6657264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247775" y="6542964"/>
            <a:ext cx="8257362" cy="418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Birden fazla input olduğunda kullanıcıya </a:t>
            </a:r>
            <a:r>
              <a:rPr lang="en-US" sz="21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seçtirme </a:t>
            </a:r>
            <a:r>
              <a:rPr lang="en-US" sz="210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sunulur.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11223" y="3119149"/>
            <a:ext cx="76167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GÖRSEL · ADAY </a:t>
            </a:r>
            <a:r>
              <a:rPr lang="en-US" sz="1200" kern="0" spc="75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NUMARALANDIRMA </a:t>
            </a:r>
            <a:r>
              <a:rPr lang="tr-TR" sz="1200" kern="0" spc="75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GÖRÜNTÜSÜ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00182" y="7176229"/>
            <a:ext cx="294636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kern="0" spc="75" dirty="0">
                <a:solidFill>
                  <a:srgbClr val="5F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ekran görüntüsü ]</a:t>
            </a:r>
            <a:endParaRPr lang="en-US" sz="1725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C13AD5-5A72-E242-8779-02E3A95889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0" b="56836"/>
          <a:stretch>
            <a:fillRect/>
          </a:stretch>
        </p:blipFill>
        <p:spPr bwMode="auto">
          <a:xfrm>
            <a:off x="10410315" y="3494415"/>
            <a:ext cx="5401832" cy="4204508"/>
          </a:xfrm>
          <a:prstGeom prst="round2DiagRect">
            <a:avLst/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92295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ÖZEL KOMUT AKIŞLARI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3224381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Sıralı komutları tek bir akışta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52500" y="3984397"/>
            <a:ext cx="13830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birden fazla komutu kaydeder; sistem bunları adım adım yürütür.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4822597"/>
            <a:ext cx="2895600" cy="10795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010285" y="5063897"/>
            <a:ext cx="27800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0285" y="5375047"/>
            <a:ext cx="27800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aç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62400" y="4822597"/>
            <a:ext cx="323850" cy="111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324350" y="4822597"/>
            <a:ext cx="2895600" cy="10795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382135" y="5063897"/>
            <a:ext cx="27800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2135" y="5375047"/>
            <a:ext cx="27800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34250" y="4822597"/>
            <a:ext cx="323850" cy="111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696200" y="4822597"/>
            <a:ext cx="2895600" cy="10795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753985" y="5063897"/>
            <a:ext cx="27800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53985" y="5375047"/>
            <a:ext cx="27800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içinde ara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06100" y="4822597"/>
            <a:ext cx="323850" cy="111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068050" y="4822597"/>
            <a:ext cx="2895600" cy="10795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1125835" y="5063897"/>
            <a:ext cx="27800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B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25835" y="5375047"/>
            <a:ext cx="27800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öğesine tıkla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077950" y="4822597"/>
            <a:ext cx="323850" cy="111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4439900" y="4822597"/>
            <a:ext cx="2895600" cy="1079500"/>
          </a:xfrm>
          <a:prstGeom prst="roundRect">
            <a:avLst>
              <a:gd name="adj" fmla="val 10588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14497685" y="5063897"/>
            <a:ext cx="27800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497685" y="5375047"/>
            <a:ext cx="27800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Numaralı öğeyi seç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6340247"/>
            <a:ext cx="3952875" cy="804069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212850" y="6581547"/>
            <a:ext cx="377539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PostgreSQL'de saklanır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095875" y="6340247"/>
            <a:ext cx="3952875" cy="804069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356225" y="6581547"/>
            <a:ext cx="377539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Sırayla çalıştırılır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239250" y="6340247"/>
            <a:ext cx="3952875" cy="804069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9499600" y="6581547"/>
            <a:ext cx="377539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olursa durur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3382625" y="6340247"/>
            <a:ext cx="3952875" cy="804069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13642975" y="6581547"/>
            <a:ext cx="377539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iptal edebilir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59596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DENEYSEL SONUÇLAR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922583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başarımı: doğrulama ve test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3911199"/>
            <a:ext cx="9322793" cy="4190000"/>
          </a:xfrm>
          <a:prstGeom prst="roundRect">
            <a:avLst>
              <a:gd name="adj" fmla="val 216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965200" y="3923899"/>
            <a:ext cx="4132064" cy="6985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250950" y="4152499"/>
            <a:ext cx="368452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5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METRIK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097264" y="3923899"/>
            <a:ext cx="2582664" cy="6985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210285" y="4152499"/>
            <a:ext cx="227914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kern="0" spc="75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7679928" y="3923899"/>
            <a:ext cx="2582664" cy="6985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792948" y="4152499"/>
            <a:ext cx="218389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kern="0" spc="7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65200" y="4622399"/>
            <a:ext cx="41320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250950" y="4844649"/>
            <a:ext cx="36845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5097264" y="46223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210285" y="4844649"/>
            <a:ext cx="22791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%95,87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7679928" y="46223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792948" y="4844649"/>
            <a:ext cx="21838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%93,45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65200" y="5397099"/>
            <a:ext cx="41320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250950" y="5619349"/>
            <a:ext cx="36845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5097264" y="53970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210285" y="5619349"/>
            <a:ext cx="22791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%95,08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7679928" y="53970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792948" y="5619349"/>
            <a:ext cx="21838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%90,93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65200" y="6171799"/>
            <a:ext cx="41320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250950" y="6394049"/>
            <a:ext cx="36845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5097264" y="61717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210285" y="6394049"/>
            <a:ext cx="22791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%95,75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7679928" y="61717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792948" y="6394049"/>
            <a:ext cx="21838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%93,05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965200" y="6946499"/>
            <a:ext cx="4132064" cy="7747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965200" y="6946499"/>
            <a:ext cx="41320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1250950" y="7168749"/>
            <a:ext cx="36845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Accuracy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5097264" y="6946499"/>
            <a:ext cx="2582664" cy="7747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5097264" y="69464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210285" y="7168749"/>
            <a:ext cx="22791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E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%97,49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7679928" y="6946499"/>
            <a:ext cx="2582664" cy="7747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7679928" y="6946499"/>
            <a:ext cx="2582664" cy="12700"/>
          </a:xfrm>
          <a:prstGeom prst="rect">
            <a:avLst/>
          </a:prstGeom>
          <a:solidFill>
            <a:srgbClr val="EB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7792948" y="7168749"/>
            <a:ext cx="21838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%94,31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10694393" y="3911199"/>
            <a:ext cx="6641108" cy="1763086"/>
          </a:xfrm>
          <a:prstGeom prst="roundRect">
            <a:avLst>
              <a:gd name="adj" fmla="val 11015"/>
            </a:avLst>
          </a:prstGeom>
          <a:solidFill>
            <a:srgbClr val="0E2A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11037293" y="4235049"/>
            <a:ext cx="655083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YORUM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1037293" y="4584299"/>
            <a:ext cx="6550839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tr-TR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 edilen metrikler, modelin çok dilli komut sınıflandırma görevinde yüksek doğruluk sağladığını göstermektedir</a:t>
            </a:r>
            <a:r>
              <a:rPr lang="en-US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0694393" y="6014627"/>
            <a:ext cx="6641108" cy="1355328"/>
          </a:xfrm>
          <a:prstGeom prst="roundRect">
            <a:avLst>
              <a:gd name="adj" fmla="val 98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10694393" y="7357255"/>
            <a:ext cx="6641108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10694393" y="6014627"/>
            <a:ext cx="6641108" cy="12700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10694393" y="6014627"/>
            <a:ext cx="38100" cy="1355328"/>
          </a:xfrm>
          <a:prstGeom prst="rect">
            <a:avLst/>
          </a:prstGeom>
          <a:solidFill>
            <a:srgbClr val="16B5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17322801" y="6014627"/>
            <a:ext cx="12700" cy="1355328"/>
          </a:xfrm>
          <a:prstGeom prst="rect">
            <a:avLst/>
          </a:prstGeom>
          <a:solidFill>
            <a:srgbClr val="E3EAF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11037293" y="6313077"/>
            <a:ext cx="6160129" cy="796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güvenilirliği için </a:t>
            </a:r>
            <a:r>
              <a:rPr lang="en-US" sz="202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</a:t>
            </a: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</a:t>
            </a:r>
            <a:r>
              <a:rPr lang="en-US" sz="2025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</a:t>
            </a:r>
            <a:r>
              <a:rPr lang="en-US" sz="2025" dirty="0">
                <a:solidFill>
                  <a:srgbClr val="33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katmanı ile desteklenir.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21AF0CA5-0716-172B-E6CA-E03C097A0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2" b="1805"/>
          <a:stretch>
            <a:fillRect/>
          </a:stretch>
        </p:blipFill>
        <p:spPr bwMode="auto">
          <a:xfrm>
            <a:off x="14342553" y="2550213"/>
            <a:ext cx="3101613" cy="6325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A25DFF-1FED-342A-CDC8-E7D82AD60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2" b="1702"/>
          <a:stretch>
            <a:fillRect/>
          </a:stretch>
        </p:blipFill>
        <p:spPr bwMode="auto">
          <a:xfrm>
            <a:off x="10985581" y="2550160"/>
            <a:ext cx="3086622" cy="6325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BD406A0-ACD1-591C-09AD-8F7526408B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6" b="1586"/>
          <a:stretch>
            <a:fillRect/>
          </a:stretch>
        </p:blipFill>
        <p:spPr bwMode="auto">
          <a:xfrm>
            <a:off x="7613062" y="2541135"/>
            <a:ext cx="3077760" cy="6325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ABF402-BF4E-4829-672E-DECFA72DEA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5" b="1792"/>
          <a:stretch>
            <a:fillRect/>
          </a:stretch>
        </p:blipFill>
        <p:spPr bwMode="auto">
          <a:xfrm>
            <a:off x="4243924" y="2542303"/>
            <a:ext cx="3082289" cy="6325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EB4C982-F709-5BDB-6D13-49C510A314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5" b="1887"/>
          <a:stretch>
            <a:fillRect/>
          </a:stretch>
        </p:blipFill>
        <p:spPr bwMode="auto">
          <a:xfrm>
            <a:off x="870612" y="2546906"/>
            <a:ext cx="3093641" cy="632342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Text 0"/>
          <p:cNvSpPr/>
          <p:nvPr/>
        </p:nvSpPr>
        <p:spPr>
          <a:xfrm>
            <a:off x="952500" y="76200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0E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MOBIL UYGULAMA ARAYÜZLERI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0E8F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1568450"/>
            <a:ext cx="1802130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ekranları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952500" y="9072540"/>
            <a:ext cx="34030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9421790"/>
            <a:ext cx="34030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ekran, sesli komut başlatma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74741" y="9072540"/>
            <a:ext cx="34030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274741" y="9421790"/>
            <a:ext cx="34030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İzin yönetimi ve erişim ayarları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51574" y="9072540"/>
            <a:ext cx="340322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Commands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51574" y="9421790"/>
            <a:ext cx="3403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 komut akışı oluşturma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87661" y="9072540"/>
            <a:ext cx="34030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987661" y="9421790"/>
            <a:ext cx="34030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Kullanım rehberi ve örnekler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350845" y="9072540"/>
            <a:ext cx="340322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4350845" y="9421790"/>
            <a:ext cx="3403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ve sistem tercihleri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23045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5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SONUÇ VE GELECEK ÇALIŞMALAR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5127486" y="800100"/>
            <a:ext cx="242881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50" dirty="0">
                <a:solidFill>
                  <a:srgbClr val="5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AI ASISTANI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952500" y="1244600"/>
            <a:ext cx="533400" cy="38100"/>
          </a:xfrm>
          <a:prstGeom prst="rect">
            <a:avLst/>
          </a:prstGeom>
          <a:solidFill>
            <a:srgbClr val="3ECA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52500" y="2141661"/>
            <a:ext cx="12753975" cy="1253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Uçtan uca çalışan bir Android sesli asistan prototipi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52500" y="3012570"/>
            <a:ext cx="13830300" cy="424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Hibrit kural tabanlı ve makine öğrenmesi destekli, çok dilli bir sesli asistan sistemi.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52500" y="4145770"/>
            <a:ext cx="5295900" cy="3345251"/>
          </a:xfrm>
          <a:prstGeom prst="roundRect">
            <a:avLst>
              <a:gd name="adj" fmla="val 287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9FC0D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270000" y="4482320"/>
            <a:ext cx="51269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GÜÇLÜ YÖNLER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70000" y="4920470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dilli destek (EN · TR · AR)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70000" y="5381440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Hibrit komut işleme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5842411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 UI etkileşimi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0000" y="6303381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 komut akışları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0000" y="6764351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/ cache entegrasyonu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6050" y="4145770"/>
            <a:ext cx="5295900" cy="3345251"/>
          </a:xfrm>
          <a:prstGeom prst="roundRect">
            <a:avLst>
              <a:gd name="adj" fmla="val 287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9FC0D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813550" y="4482320"/>
            <a:ext cx="51269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7FA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SINIRLILIKLAR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3550" y="4920470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SpeechRecognizer davranışı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3550" y="5381440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 plan medya sesi etkisi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3550" y="5842411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node kalitesi farkları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3550" y="6303381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sürüm farklılıkları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039600" y="4145770"/>
            <a:ext cx="5295900" cy="3345251"/>
          </a:xfrm>
          <a:prstGeom prst="roundRect">
            <a:avLst>
              <a:gd name="adj" fmla="val 2878"/>
            </a:avLst>
          </a:prstGeom>
          <a:solidFill>
            <a:srgbClr val="3ECAD8">
              <a:alpha val="10000"/>
            </a:srgbClr>
          </a:solidFill>
          <a:ln w="12700">
            <a:solidFill>
              <a:srgbClr val="3ECA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2357100" y="4482320"/>
            <a:ext cx="51269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3EC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GELECEK ÇALIŞMALAR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357100" y="4920470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Daha kararlı STT / VAD mimarisi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57100" y="5381440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Daha geniş cihaz testleri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57100" y="5842411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setini genişletme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57100" y="6303381"/>
            <a:ext cx="512699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DCE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 UI eşleştirmeyi geliştirme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1366</Words>
  <Application>Microsoft Office PowerPoint</Application>
  <PresentationFormat>Custom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ABO SALIM</cp:lastModifiedBy>
  <cp:revision>24</cp:revision>
  <dcterms:created xsi:type="dcterms:W3CDTF">2026-06-26T09:19:58Z</dcterms:created>
  <dcterms:modified xsi:type="dcterms:W3CDTF">2026-06-29T14:57:42Z</dcterms:modified>
</cp:coreProperties>
</file>